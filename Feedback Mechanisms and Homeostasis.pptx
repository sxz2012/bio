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5e12ffe50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5e12ffe50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5e12ffe50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5e12ffe5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5e12ffe506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5e12ffe506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5e12ffe506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5e12ffe506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1deef32e2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81deef32e2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1deef32e2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81deef32e2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81deef32e2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81deef32e2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1deef32e2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81deef32e2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1deef32e2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81deef32e2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93575" y="1449050"/>
            <a:ext cx="8835300" cy="10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280"/>
              <a:t>Feedback Mechanisms</a:t>
            </a:r>
            <a:endParaRPr b="1" sz="428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165300" y="69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Homeostasis</a:t>
            </a:r>
            <a:endParaRPr b="1"/>
          </a:p>
        </p:txBody>
      </p:sp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7105" l="8886" r="7600" t="7293"/>
          <a:stretch/>
        </p:blipFill>
        <p:spPr>
          <a:xfrm>
            <a:off x="5787650" y="2430225"/>
            <a:ext cx="3284250" cy="258342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165300" y="5034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One of the characteristics of living things is </a:t>
            </a:r>
            <a:r>
              <a:rPr b="1"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homeostasis</a:t>
            </a:r>
            <a:endParaRPr b="1"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○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Homeostasis is the 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maintenance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of a stable internal state regardless of a changing external environment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○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stable internal state is usually not entirely rigid, but can 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fluctuate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within a certain range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■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idea is called dynamic equilibrium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Ex. 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 eat food and excrete waste every day, but our body weight stays relatively stable (usually within a few pounds).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90400" y="2490225"/>
            <a:ext cx="5763900" cy="23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way organisms maintain homeostasis is through </a:t>
            </a:r>
            <a:r>
              <a:rPr b="1"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feedback mechanisms</a:t>
            </a:r>
            <a:endParaRPr b="1"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○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Typically, there are mechanisms that lower a condition when it is too high, and other mechanisms that raise the level when it is too low. 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■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Together, the system is called a </a:t>
            </a:r>
            <a:r>
              <a:rPr b="1"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feedback loop</a:t>
            </a:r>
            <a:endParaRPr b="1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feedback loop is any mechanism in which a condition triggers some action that causes a change in that same condition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219000" y="298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Feedback Mechanisms</a:t>
            </a:r>
            <a:endParaRPr b="1"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863550"/>
            <a:ext cx="541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Feedback mechanisms</a:t>
            </a: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play an important role in a number of biological areas. There are two types of feedback.</a:t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Montserrat"/>
              <a:buChar char="●"/>
            </a:pPr>
            <a:r>
              <a:rPr b="1" i="1"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Negative feedback</a:t>
            </a: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keeps things stable and is usually beneficial in natural systems</a:t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Montserrat"/>
              <a:buChar char="●"/>
            </a:pPr>
            <a:r>
              <a:rPr b="1" i="1"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Positive feedback</a:t>
            </a: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loops can push systems further to the extremes and are often detrimental to natural systems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2100" y="804975"/>
            <a:ext cx="3103875" cy="310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189700" y="191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 Negative Feedback Example - </a:t>
            </a:r>
            <a:r>
              <a:rPr b="1" lang="en"/>
              <a:t>Body Temp</a:t>
            </a:r>
            <a:endParaRPr b="1"/>
          </a:p>
        </p:txBody>
      </p:sp>
      <p:sp>
        <p:nvSpPr>
          <p:cNvPr id="75" name="Google Shape;75;p16"/>
          <p:cNvSpPr txBox="1"/>
          <p:nvPr/>
        </p:nvSpPr>
        <p:spPr>
          <a:xfrm>
            <a:off x="3344088" y="2337525"/>
            <a:ext cx="2454600" cy="390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Body Temperature (~98.6)</a:t>
            </a:r>
            <a:endParaRPr/>
          </a:p>
        </p:txBody>
      </p:sp>
      <p:sp>
        <p:nvSpPr>
          <p:cNvPr id="76" name="Google Shape;76;p16"/>
          <p:cNvSpPr txBox="1"/>
          <p:nvPr/>
        </p:nvSpPr>
        <p:spPr>
          <a:xfrm>
            <a:off x="3685638" y="2054475"/>
            <a:ext cx="1771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Condition</a:t>
            </a:r>
            <a:endParaRPr b="1"/>
          </a:p>
        </p:txBody>
      </p:sp>
      <p:sp>
        <p:nvSpPr>
          <p:cNvPr id="77" name="Google Shape;77;p16"/>
          <p:cNvSpPr/>
          <p:nvPr/>
        </p:nvSpPr>
        <p:spPr>
          <a:xfrm>
            <a:off x="5549838" y="1346925"/>
            <a:ext cx="1312800" cy="9906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CFE2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 txBox="1"/>
          <p:nvPr/>
        </p:nvSpPr>
        <p:spPr>
          <a:xfrm>
            <a:off x="6862638" y="1367550"/>
            <a:ext cx="1433700" cy="390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Body Sweats</a:t>
            </a:r>
            <a:endParaRPr/>
          </a:p>
        </p:txBody>
      </p:sp>
      <p:sp>
        <p:nvSpPr>
          <p:cNvPr id="79" name="Google Shape;79;p16"/>
          <p:cNvSpPr/>
          <p:nvPr/>
        </p:nvSpPr>
        <p:spPr>
          <a:xfrm rot="10800000">
            <a:off x="5798688" y="1757850"/>
            <a:ext cx="1312800" cy="9906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CFE2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 txBox="1"/>
          <p:nvPr/>
        </p:nvSpPr>
        <p:spPr>
          <a:xfrm>
            <a:off x="6976788" y="1039425"/>
            <a:ext cx="1205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Response</a:t>
            </a:r>
            <a:endParaRPr b="1"/>
          </a:p>
        </p:txBody>
      </p:sp>
      <p:sp>
        <p:nvSpPr>
          <p:cNvPr id="81" name="Google Shape;81;p16"/>
          <p:cNvSpPr txBox="1"/>
          <p:nvPr/>
        </p:nvSpPr>
        <p:spPr>
          <a:xfrm>
            <a:off x="5427788" y="1180363"/>
            <a:ext cx="1381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Temp Increases</a:t>
            </a:r>
            <a:endParaRPr sz="1100"/>
          </a:p>
        </p:txBody>
      </p:sp>
      <p:sp>
        <p:nvSpPr>
          <p:cNvPr id="82" name="Google Shape;82;p16"/>
          <p:cNvSpPr txBox="1"/>
          <p:nvPr/>
        </p:nvSpPr>
        <p:spPr>
          <a:xfrm>
            <a:off x="6068138" y="2581500"/>
            <a:ext cx="1381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Temp Decreases</a:t>
            </a:r>
            <a:endParaRPr sz="1100"/>
          </a:p>
        </p:txBody>
      </p:sp>
      <p:sp>
        <p:nvSpPr>
          <p:cNvPr id="83" name="Google Shape;83;p16"/>
          <p:cNvSpPr txBox="1"/>
          <p:nvPr/>
        </p:nvSpPr>
        <p:spPr>
          <a:xfrm>
            <a:off x="847663" y="3265850"/>
            <a:ext cx="1433700" cy="390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Body Shivers</a:t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 rot="10800000">
            <a:off x="2281363" y="2727825"/>
            <a:ext cx="1312800" cy="9906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CFE2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2031288" y="2275250"/>
            <a:ext cx="1312800" cy="9906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CFE2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 txBox="1"/>
          <p:nvPr/>
        </p:nvSpPr>
        <p:spPr>
          <a:xfrm>
            <a:off x="1900663" y="2126238"/>
            <a:ext cx="1381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Temp Increases</a:t>
            </a:r>
            <a:endParaRPr sz="1100"/>
          </a:p>
        </p:txBody>
      </p:sp>
      <p:sp>
        <p:nvSpPr>
          <p:cNvPr id="87" name="Google Shape;87;p16"/>
          <p:cNvSpPr txBox="1"/>
          <p:nvPr/>
        </p:nvSpPr>
        <p:spPr>
          <a:xfrm>
            <a:off x="2575213" y="3525600"/>
            <a:ext cx="1381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Temp Decreases</a:t>
            </a:r>
            <a:endParaRPr sz="1100"/>
          </a:p>
        </p:txBody>
      </p:sp>
      <p:sp>
        <p:nvSpPr>
          <p:cNvPr id="88" name="Google Shape;88;p16"/>
          <p:cNvSpPr txBox="1"/>
          <p:nvPr/>
        </p:nvSpPr>
        <p:spPr>
          <a:xfrm>
            <a:off x="961813" y="3564650"/>
            <a:ext cx="1205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Response</a:t>
            </a:r>
            <a:endParaRPr b="1"/>
          </a:p>
        </p:txBody>
      </p:sp>
      <p:sp>
        <p:nvSpPr>
          <p:cNvPr id="89" name="Google Shape;89;p16"/>
          <p:cNvSpPr txBox="1"/>
          <p:nvPr/>
        </p:nvSpPr>
        <p:spPr>
          <a:xfrm>
            <a:off x="4523750" y="2166700"/>
            <a:ext cx="633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311700" y="108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 Positive Feedback Example - Birthing Contractions</a:t>
            </a:r>
            <a:endParaRPr b="1"/>
          </a:p>
        </p:txBody>
      </p:sp>
      <p:sp>
        <p:nvSpPr>
          <p:cNvPr id="95" name="Google Shape;95;p17"/>
          <p:cNvSpPr txBox="1"/>
          <p:nvPr/>
        </p:nvSpPr>
        <p:spPr>
          <a:xfrm>
            <a:off x="6091950" y="1982500"/>
            <a:ext cx="1771500" cy="600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Babies Head Pushes on Cervix</a:t>
            </a:r>
            <a:endParaRPr sz="1300"/>
          </a:p>
        </p:txBody>
      </p:sp>
      <p:sp>
        <p:nvSpPr>
          <p:cNvPr id="96" name="Google Shape;96;p17"/>
          <p:cNvSpPr txBox="1"/>
          <p:nvPr/>
        </p:nvSpPr>
        <p:spPr>
          <a:xfrm>
            <a:off x="3666713" y="597675"/>
            <a:ext cx="1771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Condition</a:t>
            </a:r>
            <a:endParaRPr b="1"/>
          </a:p>
        </p:txBody>
      </p:sp>
      <p:sp>
        <p:nvSpPr>
          <p:cNvPr id="97" name="Google Shape;97;p17"/>
          <p:cNvSpPr txBox="1"/>
          <p:nvPr/>
        </p:nvSpPr>
        <p:spPr>
          <a:xfrm>
            <a:off x="5040200" y="3994825"/>
            <a:ext cx="2212800" cy="572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Nerve Impulses from Cervix Transmitted to Brain</a:t>
            </a:r>
            <a:endParaRPr sz="1300"/>
          </a:p>
        </p:txBody>
      </p:sp>
      <p:sp>
        <p:nvSpPr>
          <p:cNvPr id="98" name="Google Shape;98;p17"/>
          <p:cNvSpPr txBox="1"/>
          <p:nvPr/>
        </p:nvSpPr>
        <p:spPr>
          <a:xfrm>
            <a:off x="1610850" y="3963400"/>
            <a:ext cx="2159400" cy="572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Brain Stimulates </a:t>
            </a:r>
            <a:r>
              <a:rPr lang="en" sz="1300"/>
              <a:t>Pituitary</a:t>
            </a:r>
            <a:r>
              <a:rPr lang="en" sz="1300"/>
              <a:t> Gland to Secrete Oxytocin</a:t>
            </a:r>
            <a:endParaRPr sz="1300"/>
          </a:p>
        </p:txBody>
      </p:sp>
      <p:sp>
        <p:nvSpPr>
          <p:cNvPr id="99" name="Google Shape;99;p17"/>
          <p:cNvSpPr txBox="1"/>
          <p:nvPr/>
        </p:nvSpPr>
        <p:spPr>
          <a:xfrm>
            <a:off x="1187725" y="1982488"/>
            <a:ext cx="1858500" cy="572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Oxytocin Carried in Bloodstream to Uterus</a:t>
            </a:r>
            <a:endParaRPr sz="1300"/>
          </a:p>
        </p:txBody>
      </p:sp>
      <p:sp>
        <p:nvSpPr>
          <p:cNvPr id="100" name="Google Shape;100;p17"/>
          <p:cNvSpPr txBox="1"/>
          <p:nvPr/>
        </p:nvSpPr>
        <p:spPr>
          <a:xfrm>
            <a:off x="3325175" y="907713"/>
            <a:ext cx="2454600" cy="751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Oxytocin Stimulates Uterine Contractions and Pushes Baby Further Towards Cervix</a:t>
            </a:r>
            <a:endParaRPr sz="1300"/>
          </a:p>
        </p:txBody>
      </p:sp>
      <p:pic>
        <p:nvPicPr>
          <p:cNvPr id="101" name="Google Shape;10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99736">
            <a:off x="5871175" y="963980"/>
            <a:ext cx="1025852" cy="962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4818834">
            <a:off x="6048208" y="2714952"/>
            <a:ext cx="1192082" cy="1118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448471">
            <a:off x="3872629" y="4191279"/>
            <a:ext cx="1119668" cy="1050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9255151">
            <a:off x="1734324" y="2760069"/>
            <a:ext cx="1095223" cy="998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4277473">
            <a:off x="2048770" y="908164"/>
            <a:ext cx="1087788" cy="1020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145775" y="156975"/>
            <a:ext cx="8520600" cy="15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carbon dioxide levels in the atmosphere rise: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temperature of Earth rises. As Earth warms: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the rate of photosynthesis in plants increases (both carbon dioxide and temperature are limiting factors for photosynthesis)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more carbon dioxide is therefore removed from the atmosphere by plants, reducing the greenhouse effect and reducing global temperatures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232275" y="17670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Positive or Negative?  </a:t>
            </a:r>
            <a:r>
              <a:rPr b="1" i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NEGATIVE</a:t>
            </a:r>
            <a:endParaRPr/>
          </a:p>
        </p:txBody>
      </p:sp>
      <p:pic>
        <p:nvPicPr>
          <p:cNvPr id="112" name="Google Shape;11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5225" y="2429775"/>
            <a:ext cx="6010275" cy="192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145775" y="156975"/>
            <a:ext cx="8520600" cy="16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Earth warms: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Ice cover melts, exposing soil or water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Albedo decreases (Albedo is a measure of how well a surface reflects solar energy)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More energy is absorbed by Earth’s surface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Global temperature rises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More ice melts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9"/>
          <p:cNvSpPr txBox="1"/>
          <p:nvPr/>
        </p:nvSpPr>
        <p:spPr>
          <a:xfrm>
            <a:off x="232275" y="17670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Positive or Negative?  </a:t>
            </a:r>
            <a:r>
              <a:rPr b="1" i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POSITIVE</a:t>
            </a:r>
            <a:endParaRPr/>
          </a:p>
        </p:txBody>
      </p:sp>
      <p:pic>
        <p:nvPicPr>
          <p:cNvPr id="119" name="Google Shape;11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4477" y="2288750"/>
            <a:ext cx="5169074" cy="204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145775" y="156975"/>
            <a:ext cx="8520600" cy="10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2. As Earth warms, upper layers of permafrost (frozen soil) melt: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• Methane gas is released in areas where there is no oxygen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• Greenhouse effect is enhanced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• Earth warms, melting more permafrost</a:t>
            </a:r>
            <a:endParaRPr/>
          </a:p>
        </p:txBody>
      </p:sp>
      <p:pic>
        <p:nvPicPr>
          <p:cNvPr id="125" name="Google Shape;12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9275" y="2119825"/>
            <a:ext cx="6908000" cy="241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0"/>
          <p:cNvSpPr txBox="1"/>
          <p:nvPr/>
        </p:nvSpPr>
        <p:spPr>
          <a:xfrm>
            <a:off x="145775" y="14852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Positive or Negative?  </a:t>
            </a:r>
            <a:r>
              <a:rPr b="1" i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POSITIVE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145775" y="156975"/>
            <a:ext cx="8520600" cy="13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3. As Earth warms, increased evaporation: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• Produces more clouds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• Clouds increase albedo, reflecting more light away from Earth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• Temperature falls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• Rates of evaporation fall</a:t>
            </a:r>
            <a:endParaRPr/>
          </a:p>
        </p:txBody>
      </p:sp>
      <p:pic>
        <p:nvPicPr>
          <p:cNvPr id="132" name="Google Shape;13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875" y="2224775"/>
            <a:ext cx="8194449" cy="22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1"/>
          <p:cNvSpPr txBox="1"/>
          <p:nvPr/>
        </p:nvSpPr>
        <p:spPr>
          <a:xfrm>
            <a:off x="321950" y="1682563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Positive or Negative?  </a:t>
            </a:r>
            <a:r>
              <a:rPr b="1" i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NEGATIVE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idx="1" type="body"/>
          </p:nvPr>
        </p:nvSpPr>
        <p:spPr>
          <a:xfrm>
            <a:off x="145775" y="156975"/>
            <a:ext cx="8520600" cy="12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4. As Earth warms, organic matter in soil is decomposed faster: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• More carbon dioxide is released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• Enhanced greenhouse effect occurs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• Earth warms further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• Higher temperatures cause rate of decomposition to increase</a:t>
            </a:r>
            <a:endParaRPr/>
          </a:p>
        </p:txBody>
      </p:sp>
      <p:pic>
        <p:nvPicPr>
          <p:cNvPr id="139" name="Google Shape;13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1013" y="2188625"/>
            <a:ext cx="4931725" cy="239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2"/>
          <p:cNvSpPr txBox="1"/>
          <p:nvPr/>
        </p:nvSpPr>
        <p:spPr>
          <a:xfrm>
            <a:off x="145775" y="15464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Positive or Negative?  </a:t>
            </a:r>
            <a:r>
              <a:rPr b="1" i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POSITIVE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