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3d939b5a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3d939b5a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40e40b136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40e40b136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3d939b5a5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3d939b5a5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40e40b1360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40e40b1360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3d939b5a5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3d939b5a5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40e40b1360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40e40b1360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3d939b5a5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3d939b5a5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40e40b1360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40e40b1360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3d939b5a5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3d939b5a5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83943cf0f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83943cf0f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3d939b5a5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3d939b5a5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83943cf0f0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83943cf0f0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3d939b5a5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3d939b5a5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83943cf0f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83943cf0f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t>Energy and Matter </a:t>
            </a:r>
            <a:endParaRPr b="1"/>
          </a:p>
          <a:p>
            <a:pPr indent="0" lvl="0" marL="0" rtl="0" algn="ctr">
              <a:spcBef>
                <a:spcPts val="0"/>
              </a:spcBef>
              <a:spcAft>
                <a:spcPts val="0"/>
              </a:spcAft>
              <a:buNone/>
            </a:pPr>
            <a:r>
              <a:rPr lang="en"/>
              <a:t>Practice Questions</a:t>
            </a:r>
            <a:endParaRPr/>
          </a:p>
        </p:txBody>
      </p:sp>
      <p:sp>
        <p:nvSpPr>
          <p:cNvPr id="55" name="Google Shape;55;p13"/>
          <p:cNvSpPr txBox="1"/>
          <p:nvPr>
            <p:ph idx="1" type="subTitle"/>
          </p:nvPr>
        </p:nvSpPr>
        <p:spPr>
          <a:xfrm>
            <a:off x="120775" y="3079225"/>
            <a:ext cx="9023100" cy="792600"/>
          </a:xfrm>
          <a:prstGeom prst="rect">
            <a:avLst/>
          </a:prstGeom>
        </p:spPr>
        <p:txBody>
          <a:bodyPr anchorCtr="0" anchor="t" bIns="91425" lIns="91425" spcFirstLastPara="1" rIns="91425" wrap="square" tIns="91425">
            <a:noAutofit/>
          </a:bodyPr>
          <a:lstStyle/>
          <a:p>
            <a:pPr indent="0" lvl="0" marL="228600" rtl="0" algn="ctr">
              <a:lnSpc>
                <a:spcPct val="80000"/>
              </a:lnSpc>
              <a:spcBef>
                <a:spcPts val="0"/>
              </a:spcBef>
              <a:spcAft>
                <a:spcPts val="0"/>
              </a:spcAft>
              <a:buSzPts val="1018"/>
              <a:buNone/>
            </a:pPr>
            <a:r>
              <a:rPr i="1" lang="en" sz="2310">
                <a:solidFill>
                  <a:schemeClr val="dk1"/>
                </a:solidFill>
              </a:rPr>
              <a:t>If you are not sure of your answer, that’s okay! </a:t>
            </a:r>
            <a:endParaRPr i="1" sz="2310">
              <a:solidFill>
                <a:schemeClr val="dk1"/>
              </a:solidFill>
            </a:endParaRPr>
          </a:p>
          <a:p>
            <a:pPr indent="0" lvl="0" marL="228600" rtl="0" algn="ctr">
              <a:lnSpc>
                <a:spcPct val="80000"/>
              </a:lnSpc>
              <a:spcBef>
                <a:spcPts val="600"/>
              </a:spcBef>
              <a:spcAft>
                <a:spcPts val="600"/>
              </a:spcAft>
              <a:buClr>
                <a:schemeClr val="dk1"/>
              </a:buClr>
              <a:buSzPts val="1018"/>
              <a:buFont typeface="Arial"/>
              <a:buNone/>
            </a:pPr>
            <a:r>
              <a:rPr i="1" lang="en" sz="2310">
                <a:solidFill>
                  <a:schemeClr val="dk1"/>
                </a:solidFill>
              </a:rPr>
              <a:t>These should ‘work out’ your brain!</a:t>
            </a:r>
            <a:endParaRPr sz="379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130525" y="1545450"/>
            <a:ext cx="87720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600"/>
              </a:spcAft>
              <a:buNone/>
            </a:pPr>
            <a:r>
              <a:rPr lang="en" sz="4400"/>
              <a:t>Describe three possible pathways for the energy in the food that you eat</a:t>
            </a:r>
            <a:endParaRPr sz="4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AutoNum type="arabicPeriod"/>
            </a:pPr>
            <a:r>
              <a:rPr lang="en" sz="2100"/>
              <a:t>Could</a:t>
            </a:r>
            <a:r>
              <a:rPr lang="en" sz="2100"/>
              <a:t> be stored in you as chemical energy</a:t>
            </a:r>
            <a:endParaRPr sz="2100"/>
          </a:p>
          <a:p>
            <a:pPr indent="-361950" lvl="0" marL="457200" rtl="0" algn="l">
              <a:spcBef>
                <a:spcPts val="0"/>
              </a:spcBef>
              <a:spcAft>
                <a:spcPts val="0"/>
              </a:spcAft>
              <a:buSzPts val="2100"/>
              <a:buAutoNum type="arabicPeriod"/>
            </a:pPr>
            <a:r>
              <a:rPr lang="en" sz="2100"/>
              <a:t>Could be released as heat into the environment</a:t>
            </a:r>
            <a:endParaRPr sz="2100"/>
          </a:p>
          <a:p>
            <a:pPr indent="-361950" lvl="0" marL="457200" rtl="0" algn="l">
              <a:spcBef>
                <a:spcPts val="0"/>
              </a:spcBef>
              <a:spcAft>
                <a:spcPts val="0"/>
              </a:spcAft>
              <a:buSzPts val="2100"/>
              <a:buAutoNum type="arabicPeriod"/>
            </a:pPr>
            <a:r>
              <a:rPr lang="en" sz="2100"/>
              <a:t>Could</a:t>
            </a:r>
            <a:r>
              <a:rPr lang="en" sz="2100"/>
              <a:t> be transferred to another organism (</a:t>
            </a:r>
            <a:r>
              <a:rPr lang="en" sz="2100"/>
              <a:t>decomposer)</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ctrTitle"/>
          </p:nvPr>
        </p:nvSpPr>
        <p:spPr>
          <a:xfrm>
            <a:off x="130525" y="1545450"/>
            <a:ext cx="8772000" cy="2052600"/>
          </a:xfrm>
          <a:prstGeom prst="rect">
            <a:avLst/>
          </a:prstGeom>
        </p:spPr>
        <p:txBody>
          <a:bodyPr anchorCtr="0" anchor="b" bIns="91425" lIns="91425" spcFirstLastPara="1" rIns="91425" wrap="square" tIns="91425">
            <a:noAutofit/>
          </a:bodyPr>
          <a:lstStyle/>
          <a:p>
            <a:pPr indent="0" lvl="0" marL="228600" rtl="0" algn="ctr">
              <a:spcBef>
                <a:spcPts val="0"/>
              </a:spcBef>
              <a:spcAft>
                <a:spcPts val="600"/>
              </a:spcAft>
              <a:buNone/>
            </a:pPr>
            <a:r>
              <a:rPr lang="en" sz="4400"/>
              <a:t>Animals often shiver when they are cold. Explain this process in terms of energy and homeostasis.</a:t>
            </a:r>
            <a:endParaRPr sz="4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7" name="Google Shape;7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In order to increase the body temperature an animal will shiver to generate heat </a:t>
            </a:r>
            <a:r>
              <a:rPr lang="en" sz="2500"/>
              <a:t>energy that raises their internal temperature and helps them maintain homeostasis.</a:t>
            </a:r>
            <a:endParaRPr sz="2500"/>
          </a:p>
          <a:p>
            <a:pPr indent="0" lvl="0" marL="0" rtl="0" algn="l">
              <a:spcBef>
                <a:spcPts val="1200"/>
              </a:spcBef>
              <a:spcAft>
                <a:spcPts val="1200"/>
              </a:spcAft>
              <a:buNone/>
            </a:pPr>
            <a:r>
              <a:rPr i="1" lang="en" sz="2200"/>
              <a:t>Shivering generates heat because it involves quick muscle contractions that requires glucose to be converted into ATP through cellular respiration and heat is released as a by product.</a:t>
            </a:r>
            <a:endParaRPr i="1"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ctrTitle"/>
          </p:nvPr>
        </p:nvSpPr>
        <p:spPr>
          <a:xfrm>
            <a:off x="186000" y="2078300"/>
            <a:ext cx="8772000" cy="2052600"/>
          </a:xfrm>
          <a:prstGeom prst="rect">
            <a:avLst/>
          </a:prstGeom>
        </p:spPr>
        <p:txBody>
          <a:bodyPr anchorCtr="0" anchor="b" bIns="91425" lIns="91425" spcFirstLastPara="1" rIns="91425" wrap="square" tIns="91425">
            <a:noAutofit/>
          </a:bodyPr>
          <a:lstStyle/>
          <a:p>
            <a:pPr indent="0" lvl="0" marL="228600" rtl="0" algn="ctr">
              <a:spcBef>
                <a:spcPts val="0"/>
              </a:spcBef>
              <a:spcAft>
                <a:spcPts val="600"/>
              </a:spcAft>
              <a:buNone/>
            </a:pPr>
            <a:r>
              <a:rPr lang="en" sz="4400"/>
              <a:t>Fossil fuels contain energy that we can use to warm or light a room. Describe where this energy came from and what happens to it in our rooms.</a:t>
            </a:r>
            <a:endParaRPr sz="4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8" name="Google Shape;88;p19"/>
          <p:cNvSpPr txBox="1"/>
          <p:nvPr>
            <p:ph idx="1" type="body"/>
          </p:nvPr>
        </p:nvSpPr>
        <p:spPr>
          <a:xfrm>
            <a:off x="311700" y="11027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A fossil fuel is long dead organisms (mostly plants) that have been compressed into coal, oil or gas (chemical energy). This energy </a:t>
            </a:r>
            <a:r>
              <a:rPr lang="en" sz="2200"/>
              <a:t>originally</a:t>
            </a:r>
            <a:r>
              <a:rPr lang="en" sz="2200"/>
              <a:t> came from the sun. When the fossil fuels are used to generate electrical energy, it is then transferred into light energy that ultimately </a:t>
            </a:r>
            <a:r>
              <a:rPr lang="en" sz="2200"/>
              <a:t>lights up the room and also heats it up.</a:t>
            </a:r>
            <a:endParaRPr sz="2200"/>
          </a:p>
          <a:p>
            <a:pPr indent="0" lvl="0" marL="0" rtl="0" algn="l">
              <a:spcBef>
                <a:spcPts val="1200"/>
              </a:spcBef>
              <a:spcAft>
                <a:spcPts val="0"/>
              </a:spcAft>
              <a:buNone/>
            </a:pPr>
            <a:r>
              <a:t/>
            </a:r>
            <a:endParaRPr sz="2200"/>
          </a:p>
          <a:p>
            <a:pPr indent="0" lvl="0" marL="0" rtl="0" algn="l">
              <a:spcBef>
                <a:spcPts val="1200"/>
              </a:spcBef>
              <a:spcAft>
                <a:spcPts val="1200"/>
              </a:spcAft>
              <a:buNone/>
            </a:pPr>
            <a:r>
              <a:rPr lang="en" sz="2000"/>
              <a:t>Sunlight → ancient plants → fossil fuels → electricity → light/heat in room</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ctrTitle"/>
          </p:nvPr>
        </p:nvSpPr>
        <p:spPr>
          <a:xfrm>
            <a:off x="186000" y="2078300"/>
            <a:ext cx="8772000" cy="2052600"/>
          </a:xfrm>
          <a:prstGeom prst="rect">
            <a:avLst/>
          </a:prstGeom>
        </p:spPr>
        <p:txBody>
          <a:bodyPr anchorCtr="0" anchor="b" bIns="91425" lIns="91425" spcFirstLastPara="1" rIns="91425" wrap="square" tIns="91425">
            <a:noAutofit/>
          </a:bodyPr>
          <a:lstStyle/>
          <a:p>
            <a:pPr indent="0" lvl="0" marL="228600" rtl="0" algn="ctr">
              <a:spcBef>
                <a:spcPts val="0"/>
              </a:spcBef>
              <a:spcAft>
                <a:spcPts val="600"/>
              </a:spcAft>
              <a:buNone/>
            </a:pPr>
            <a:r>
              <a:rPr lang="en" sz="4400"/>
              <a:t>How are you similar to a wood-burning stove in terms of energy and matter? How are you different?</a:t>
            </a:r>
            <a:endParaRPr sz="4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9" name="Google Shape;9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Similarities</a:t>
            </a:r>
            <a:r>
              <a:rPr lang="en" sz="2100"/>
              <a:t> - both take in chemical energy in the form of organic matter and release energy in the form of heat</a:t>
            </a:r>
            <a:endParaRPr sz="2100"/>
          </a:p>
          <a:p>
            <a:pPr indent="0" lvl="0" marL="0" rtl="0" algn="l">
              <a:spcBef>
                <a:spcPts val="1200"/>
              </a:spcBef>
              <a:spcAft>
                <a:spcPts val="1200"/>
              </a:spcAft>
              <a:buNone/>
            </a:pPr>
            <a:r>
              <a:rPr lang="en" sz="2100"/>
              <a:t>Differences - in the stove the chemical energy is directly turned into heat, while in us it can be turned into other forms of chemical energy that create the structure and function of our bodies.</a:t>
            </a:r>
            <a:endParaRPr sz="2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2"/>
          <p:cNvSpPr txBox="1"/>
          <p:nvPr>
            <p:ph type="ctrTitle"/>
          </p:nvPr>
        </p:nvSpPr>
        <p:spPr>
          <a:xfrm>
            <a:off x="364983" y="1895575"/>
            <a:ext cx="8520600" cy="2052600"/>
          </a:xfrm>
          <a:prstGeom prst="rect">
            <a:avLst/>
          </a:prstGeom>
        </p:spPr>
        <p:txBody>
          <a:bodyPr anchorCtr="0" anchor="b" bIns="91425" lIns="91425" spcFirstLastPara="1" rIns="91425" wrap="square" tIns="91425">
            <a:noAutofit/>
          </a:bodyPr>
          <a:lstStyle/>
          <a:p>
            <a:pPr indent="0" lvl="0" marL="228600" rtl="0" algn="ctr">
              <a:spcBef>
                <a:spcPts val="0"/>
              </a:spcBef>
              <a:spcAft>
                <a:spcPts val="600"/>
              </a:spcAft>
              <a:buNone/>
            </a:pPr>
            <a:r>
              <a:rPr lang="en" sz="4400"/>
              <a:t>Why are there typically more plants in a terrestrial (land) ecosystem than animals? Explain this in terms of energy.</a:t>
            </a:r>
            <a:endParaRPr sz="4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3"/>
          <p:cNvSpPr txBox="1"/>
          <p:nvPr>
            <p:ph idx="1" type="subTitle"/>
          </p:nvPr>
        </p:nvSpPr>
        <p:spPr>
          <a:xfrm>
            <a:off x="311700" y="577625"/>
            <a:ext cx="8520600" cy="33933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The more energy that is available at a trophic level the more organisms that trophic level can support. Because p</a:t>
            </a:r>
            <a:r>
              <a:rPr lang="en"/>
              <a:t>lants are producers, they capture all of the energy that is available to an ecosystem. Once the energy is transferred to animals at higher trophic levels much of it will have been lost as heat. Therefore there is less energy available to support animals.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4"/>
          <p:cNvSpPr txBox="1"/>
          <p:nvPr>
            <p:ph type="ctrTitle"/>
          </p:nvPr>
        </p:nvSpPr>
        <p:spPr>
          <a:xfrm>
            <a:off x="386308" y="11984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400"/>
              <a:t>Explain the phrase: </a:t>
            </a:r>
            <a:endParaRPr sz="4400"/>
          </a:p>
          <a:p>
            <a:pPr indent="0" lvl="0" marL="0" rtl="0" algn="ctr">
              <a:spcBef>
                <a:spcPts val="600"/>
              </a:spcBef>
              <a:spcAft>
                <a:spcPts val="600"/>
              </a:spcAft>
              <a:buNone/>
            </a:pPr>
            <a:r>
              <a:rPr lang="en" sz="4400"/>
              <a:t>“Energy flows and matter cycles”</a:t>
            </a:r>
            <a:endParaRPr sz="4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idx="1" type="subTitle"/>
          </p:nvPr>
        </p:nvSpPr>
        <p:spPr>
          <a:xfrm>
            <a:off x="270225" y="502950"/>
            <a:ext cx="8520600" cy="29868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Matter such as carbon, nitrogen, and other elements are part of cycles. They are transferred from one place to another, but the total amount is always the same on earth. If you followed a carbon atom long enough you would end up back in the same </a:t>
            </a:r>
            <a:r>
              <a:rPr lang="en"/>
              <a:t>place it started.</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Energy flows in from the sun, passes through the trophic levels and is eventually lost as heat to the universe. It does not cycle in a loop on earth like matter does.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6"/>
          <p:cNvSpPr txBox="1"/>
          <p:nvPr>
            <p:ph type="ctrTitle"/>
          </p:nvPr>
        </p:nvSpPr>
        <p:spPr>
          <a:xfrm>
            <a:off x="311708" y="214225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300"/>
              <a:t>Eating “lower on the food chain” (i.e. a more plant-based diet) is generally a more efficient use of resources than eating large amounts of meat. </a:t>
            </a:r>
            <a:endParaRPr sz="3300"/>
          </a:p>
          <a:p>
            <a:pPr indent="0" lvl="0" marL="0" rtl="0" algn="ctr">
              <a:spcBef>
                <a:spcPts val="600"/>
              </a:spcBef>
              <a:spcAft>
                <a:spcPts val="600"/>
              </a:spcAft>
              <a:buNone/>
            </a:pPr>
            <a:r>
              <a:rPr lang="en" sz="3300"/>
              <a:t>Explain why this is true using the concepts of trophic levels and biological pyramids. </a:t>
            </a:r>
            <a:endParaRPr sz="33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7"/>
          <p:cNvSpPr txBox="1"/>
          <p:nvPr>
            <p:ph idx="1" type="subTitle"/>
          </p:nvPr>
        </p:nvSpPr>
        <p:spPr>
          <a:xfrm>
            <a:off x="378050" y="411725"/>
            <a:ext cx="8520600" cy="31611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t>The amount of energy required to sustain consumers (animals) is much more than that required to sustain produces (plants). In order to eat meat you also need to grow plants to feed the animals that produce the meat. This process will always require more energy is is less efficient than eating plants directly.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