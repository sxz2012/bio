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be18bd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be18bd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bbe18bd5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bbe18bd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bbe18bd5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bbe18bd5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bbe18bd5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bbe18bd5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bbe18bd5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bbe18bd5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bbe18bd5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bbe18bd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bbe18bd5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bbe18bd5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7488"/>
            <a:ext cx="9143999" cy="37960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0" y="0"/>
            <a:ext cx="9009000" cy="14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/>
              <a:t>Biodiversity and </a:t>
            </a:r>
            <a:r>
              <a:rPr b="1" lang="en" sz="4000"/>
              <a:t>Its</a:t>
            </a:r>
            <a:r>
              <a:rPr b="1" lang="en" sz="4000"/>
              <a:t> Threats</a:t>
            </a:r>
            <a:endParaRPr b="1"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/>
              <a:t>Debrief</a:t>
            </a:r>
            <a:endParaRPr b="1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1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Biodiversity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92300"/>
            <a:ext cx="8520600" cy="38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" sz="2300">
                <a:solidFill>
                  <a:schemeClr val="dk1"/>
                </a:solidFill>
              </a:rPr>
              <a:t>What does the word “biodiversity” mean when you break it down into “bio” and “diversity”?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" sz="2300">
                <a:solidFill>
                  <a:schemeClr val="dk1"/>
                </a:solidFill>
              </a:rPr>
              <a:t>Why is high biodiversity generally considered a good thing for ecosystems?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" sz="2300">
                <a:solidFill>
                  <a:schemeClr val="dk1"/>
                </a:solidFill>
              </a:rPr>
              <a:t>How does having a greater number of genes in a gene pool help a population adapt to environmental changes?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AutoNum type="arabicPeriod"/>
            </a:pPr>
            <a:r>
              <a:rPr lang="en" sz="2300">
                <a:solidFill>
                  <a:schemeClr val="dk1"/>
                </a:solidFill>
              </a:rPr>
              <a:t>What is ecosystem diversity, and how is it different from genetic and species diversity?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1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Biodiversity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36750"/>
            <a:ext cx="8520600" cy="42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What does the word “biodiversity” mean when you break it down into “bio” and “diversity”?</a:t>
            </a:r>
            <a:endParaRPr sz="2000">
              <a:solidFill>
                <a:schemeClr val="dk1"/>
              </a:solidFill>
            </a:endParaRPr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lphaLcPeriod"/>
            </a:pPr>
            <a:r>
              <a:rPr lang="en" sz="2000">
                <a:solidFill>
                  <a:srgbClr val="FF0000"/>
                </a:solidFill>
              </a:rPr>
              <a:t>“Bio” means life and “diversity” means differences, so biodiversity means the variety or differences of life</a:t>
            </a:r>
            <a:endParaRPr sz="2000">
              <a:solidFill>
                <a:srgbClr val="FF0000"/>
              </a:solidFill>
            </a:endParaRPr>
          </a:p>
          <a:p>
            <a:pPr indent="-32702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Why is high biodiversity generally considered a good thing for ecosystems?</a:t>
            </a:r>
            <a:endParaRPr sz="2000">
              <a:solidFill>
                <a:schemeClr val="dk1"/>
              </a:solidFill>
            </a:endParaRPr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lphaLcPeriod"/>
            </a:pPr>
            <a:r>
              <a:rPr lang="en" sz="2000">
                <a:solidFill>
                  <a:srgbClr val="FF0000"/>
                </a:solidFill>
              </a:rPr>
              <a:t>High biodiversity makes ecosystems healthier, more stable, and better able to recover from changes or disturbances (resilient)</a:t>
            </a:r>
            <a:endParaRPr sz="2000">
              <a:solidFill>
                <a:srgbClr val="FF0000"/>
              </a:solidFill>
            </a:endParaRPr>
          </a:p>
          <a:p>
            <a:pPr indent="-32702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How does having a greater number of genes in a gene pool help a population adapt to environmental changes?</a:t>
            </a:r>
            <a:endParaRPr sz="2000">
              <a:solidFill>
                <a:schemeClr val="dk1"/>
              </a:solidFill>
            </a:endParaRPr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lphaLcPeriod"/>
            </a:pPr>
            <a:r>
              <a:rPr lang="en" sz="2000">
                <a:solidFill>
                  <a:srgbClr val="FF0000"/>
                </a:solidFill>
              </a:rPr>
              <a:t>A larger gene pool increases the chance that some individuals have traits that allow them to survive any changes in the </a:t>
            </a:r>
            <a:r>
              <a:rPr lang="en" sz="2000">
                <a:solidFill>
                  <a:srgbClr val="FF0000"/>
                </a:solidFill>
              </a:rPr>
              <a:t>environment</a:t>
            </a:r>
            <a:r>
              <a:rPr lang="en" sz="2000">
                <a:solidFill>
                  <a:srgbClr val="FF0000"/>
                </a:solidFill>
              </a:rPr>
              <a:t>, this increases the chance that the species will continue to evolve and </a:t>
            </a:r>
            <a:r>
              <a:rPr lang="en" sz="2000">
                <a:solidFill>
                  <a:srgbClr val="FF0000"/>
                </a:solidFill>
              </a:rPr>
              <a:t>survive</a:t>
            </a:r>
            <a:r>
              <a:rPr lang="en" sz="2000">
                <a:solidFill>
                  <a:srgbClr val="FF0000"/>
                </a:solidFill>
              </a:rPr>
              <a:t>.</a:t>
            </a:r>
            <a:endParaRPr sz="2000">
              <a:solidFill>
                <a:srgbClr val="FF0000"/>
              </a:solidFill>
            </a:endParaRPr>
          </a:p>
          <a:p>
            <a:pPr indent="-32702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What is ecosystem diversity, and how is it different from genetic and species diversity?</a:t>
            </a:r>
            <a:endParaRPr sz="2000">
              <a:solidFill>
                <a:schemeClr val="dk1"/>
              </a:solidFill>
            </a:endParaRPr>
          </a:p>
          <a:p>
            <a:pPr indent="-327025" lvl="1" marL="914400" rtl="0" algn="l"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SzPct val="100000"/>
              <a:buAutoNum type="alphaLcPeriod"/>
            </a:pPr>
            <a:r>
              <a:rPr lang="en" sz="2000">
                <a:solidFill>
                  <a:srgbClr val="FF0000"/>
                </a:solidFill>
              </a:rPr>
              <a:t>Ecosystem diversity is the variety of different ecosystems on Earth, while genetic and species diversity focus on variation within a species or within an ecosystem.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31763"/>
            <a:ext cx="476250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82900" y="23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Ecosystem Services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855025"/>
            <a:ext cx="8520600" cy="3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Why are extinctions of plants and animals a problem for humans as well as for ecosystems?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What are ecosystem services, and why are they described as benefits “for free”?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3/4. Work together to provide one example of each type of ecosystem service (supporting, regulating, provisioning, and cultural).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Ecosystem Services</a:t>
            </a:r>
            <a:endParaRPr b="1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05325" y="474025"/>
            <a:ext cx="8906400" cy="45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221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Why are extinctions of plants and animals a problem for humans as well as for ecosystems?</a:t>
            </a:r>
            <a:endParaRPr sz="1900">
              <a:solidFill>
                <a:schemeClr val="dk1"/>
              </a:solidFill>
            </a:endParaRPr>
          </a:p>
          <a:p>
            <a:pPr indent="-322104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lphaLcPeriod"/>
            </a:pPr>
            <a:r>
              <a:rPr lang="en" sz="1900">
                <a:solidFill>
                  <a:srgbClr val="FF0000"/>
                </a:solidFill>
              </a:rPr>
              <a:t>we rely on ecosystems for services like food, clean water, oxygen production, and climate regulation—things we cannot do ourselves</a:t>
            </a:r>
            <a:endParaRPr sz="1900">
              <a:solidFill>
                <a:srgbClr val="FF0000"/>
              </a:solidFill>
            </a:endParaRPr>
          </a:p>
          <a:p>
            <a:pPr indent="-322104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What are ecosystem services, and why are they described as benefits “for free”?</a:t>
            </a:r>
            <a:endParaRPr sz="1900">
              <a:solidFill>
                <a:schemeClr val="dk1"/>
              </a:solidFill>
            </a:endParaRPr>
          </a:p>
          <a:p>
            <a:pPr indent="-322104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lphaLcPeriod"/>
            </a:pPr>
            <a:r>
              <a:rPr lang="en" sz="1900">
                <a:solidFill>
                  <a:srgbClr val="FF0000"/>
                </a:solidFill>
              </a:rPr>
              <a:t>Ecosystem services are the natural processes that support life (like recycling nutrients or filtering water), and they are free because ecosystems perform them without cost to humans</a:t>
            </a:r>
            <a:endParaRPr sz="19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3/4. Work together to p</a:t>
            </a:r>
            <a:r>
              <a:rPr lang="en" sz="1900">
                <a:solidFill>
                  <a:schemeClr val="dk1"/>
                </a:solidFill>
              </a:rPr>
              <a:t>rovide one example of each type of ecosystem service (supporting, regulating, provisioning, and cultural).</a:t>
            </a:r>
            <a:endParaRPr sz="1900">
              <a:solidFill>
                <a:schemeClr val="dk1"/>
              </a:solidFill>
            </a:endParaRPr>
          </a:p>
          <a:p>
            <a:pPr indent="-322104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95409"/>
              <a:buAutoNum type="alphaLcPeriod"/>
            </a:pPr>
            <a:r>
              <a:rPr b="1" lang="en" sz="1991">
                <a:solidFill>
                  <a:srgbClr val="FF0000"/>
                </a:solidFill>
              </a:rPr>
              <a:t>Supporting services</a:t>
            </a:r>
            <a:r>
              <a:rPr lang="en" sz="1991">
                <a:solidFill>
                  <a:srgbClr val="FF0000"/>
                </a:solidFill>
              </a:rPr>
              <a:t> → Soil formation: earthworms and decomposers break down organic matter, creating fertile soil that supports plant growth.</a:t>
            </a:r>
            <a:endParaRPr sz="1991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991">
                <a:solidFill>
                  <a:srgbClr val="FF0000"/>
                </a:solidFill>
              </a:rPr>
              <a:t>Regulating services</a:t>
            </a:r>
            <a:r>
              <a:rPr lang="en" sz="1991">
                <a:solidFill>
                  <a:srgbClr val="FF0000"/>
                </a:solidFill>
              </a:rPr>
              <a:t> → Climate regulation: forests absorb carbon dioxide, helping to slow global warming.</a:t>
            </a:r>
            <a:endParaRPr sz="1991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991">
                <a:solidFill>
                  <a:srgbClr val="FF0000"/>
                </a:solidFill>
              </a:rPr>
              <a:t>Provisioning services</a:t>
            </a:r>
            <a:r>
              <a:rPr lang="en" sz="1991">
                <a:solidFill>
                  <a:srgbClr val="FF0000"/>
                </a:solidFill>
              </a:rPr>
              <a:t> → Freshwater: rivers and aquifers provide drinking water for people and irrigation for crops.</a:t>
            </a:r>
            <a:br>
              <a:rPr lang="en" sz="1991">
                <a:solidFill>
                  <a:srgbClr val="FF0000"/>
                </a:solidFill>
              </a:rPr>
            </a:br>
            <a:br>
              <a:rPr lang="en" sz="1991">
                <a:solidFill>
                  <a:srgbClr val="FF0000"/>
                </a:solidFill>
              </a:rPr>
            </a:br>
            <a:r>
              <a:rPr b="1" lang="en" sz="1991">
                <a:solidFill>
                  <a:srgbClr val="FF0000"/>
                </a:solidFill>
              </a:rPr>
              <a:t>Cultural services</a:t>
            </a:r>
            <a:r>
              <a:rPr lang="en" sz="1991">
                <a:solidFill>
                  <a:srgbClr val="FF0000"/>
                </a:solidFill>
              </a:rPr>
              <a:t> → Recreation: national parks give people opportunities for hiking, sightseeing, and connecting with nature.</a:t>
            </a:r>
            <a:endParaRPr sz="19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60875" y="11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Threats to Biodiversity</a:t>
            </a:r>
            <a:endParaRPr b="1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240250" y="829800"/>
            <a:ext cx="8520600" cy="43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What does each letter in the acronym CHIPPO stand for?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Why is habitat loss and fragmentation considered one of the biggest current threats to biodiversity?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What is meant by the term “invasive species,” and what example was given in the lecture?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What role does the growing human population play in making other CHIPPO threats worse?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160875" y="11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Threats to Biodiversity</a:t>
            </a:r>
            <a:endParaRPr b="1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248200" y="684350"/>
            <a:ext cx="8520600" cy="43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 does each letter in the acronym CHIPPO stand for?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en">
                <a:solidFill>
                  <a:srgbClr val="FF0000"/>
                </a:solidFill>
              </a:rPr>
              <a:t>Climate change, Habitat loss, Introduced species, Pollution, Population, and Overexploitation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Why is habitat loss and fragmentation considered one of the biggest current threats to biodiversity?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en">
                <a:solidFill>
                  <a:srgbClr val="FF0000"/>
                </a:solidFill>
              </a:rPr>
              <a:t>Habitat loss and fragmentation reduce the size and quality of living spaces, isolating species and making survival and reproduction more difficult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 is meant by the term “invasive species,” and what example was given in the lecture?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en">
                <a:solidFill>
                  <a:srgbClr val="FF0000"/>
                </a:solidFill>
              </a:rPr>
              <a:t>Invasive species are organisms introduced to ecosystems where they don’t naturally occur, often outcompeting or harming native species, such as zebra mussels in the Great Lakes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 role does the growing human population play in making other CHIPPO threats worse?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SzPts val="1400"/>
              <a:buAutoNum type="alphaLcPeriod"/>
            </a:pPr>
            <a:r>
              <a:rPr lang="en">
                <a:solidFill>
                  <a:srgbClr val="FF0000"/>
                </a:solidFill>
              </a:rPr>
              <a:t>Human population growth increases demand for land, food, and energy, which drives deforestation, pollution, and climate change, thereby intensifying the other CHIPPO threats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