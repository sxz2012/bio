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i="1" lang="en" sz="2060">
                <a:solidFill>
                  <a:srgbClr val="595959"/>
                </a:solidFill>
              </a:rPr>
              <a:t>Why science doesn’t </a:t>
            </a:r>
            <a:r>
              <a:rPr i="1" lang="en" sz="2060" u="sng">
                <a:solidFill>
                  <a:srgbClr val="595959"/>
                </a:solidFill>
              </a:rPr>
              <a:t>prove</a:t>
            </a:r>
            <a:r>
              <a:rPr i="1" lang="en" sz="2060">
                <a:solidFill>
                  <a:srgbClr val="595959"/>
                </a:solidFill>
              </a:rPr>
              <a:t> things but rather tries to increase the probability that a something is true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1d3a2f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1d3a2f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5b28f9a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5b28f9a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5b28f9a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5b28f9a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5b28f9ae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5b28f9ae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5b28f9ae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5b28f9ae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Deductive vs. </a:t>
            </a:r>
            <a:r>
              <a:rPr b="1" lang="en"/>
              <a:t>Inductive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Reasoning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i="1" sz="20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18841" l="14424" r="16132" t="19786"/>
          <a:stretch/>
        </p:blipFill>
        <p:spPr>
          <a:xfrm>
            <a:off x="817900" y="657500"/>
            <a:ext cx="7508175" cy="382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7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Deductive Reasoning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093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Starts with one or more general rules or premises and ends with a conclusion. If the general rules or premises are true than the conclusion </a:t>
            </a:r>
            <a:r>
              <a:rPr b="1" lang="en" u="sng">
                <a:solidFill>
                  <a:schemeClr val="dk1"/>
                </a:solidFill>
              </a:rPr>
              <a:t>must be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r>
              <a:rPr b="1" lang="en">
                <a:solidFill>
                  <a:schemeClr val="dk1"/>
                </a:solidFill>
              </a:rPr>
              <a:t>Ex.</a:t>
            </a:r>
            <a:r>
              <a:rPr lang="en">
                <a:solidFill>
                  <a:schemeClr val="dk1"/>
                </a:solidFill>
              </a:rPr>
              <a:t> All dogs have four legs. My pet is a dog. Therefore, my pet has four legs.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1242775" y="2456775"/>
            <a:ext cx="2424000" cy="24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5"/>
          <p:cNvCxnSpPr>
            <a:stCxn id="67" idx="2"/>
          </p:cNvCxnSpPr>
          <p:nvPr/>
        </p:nvCxnSpPr>
        <p:spPr>
          <a:xfrm flipH="1">
            <a:off x="2451475" y="2706375"/>
            <a:ext cx="3300" cy="3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 txBox="1"/>
          <p:nvPr/>
        </p:nvSpPr>
        <p:spPr>
          <a:xfrm>
            <a:off x="1630250" y="2982100"/>
            <a:ext cx="1609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Premise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361625" y="2456763"/>
            <a:ext cx="3276600" cy="24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15"/>
          <p:cNvCxnSpPr/>
          <p:nvPr/>
        </p:nvCxnSpPr>
        <p:spPr>
          <a:xfrm flipH="1">
            <a:off x="4485650" y="2712888"/>
            <a:ext cx="3300" cy="3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5"/>
          <p:cNvSpPr txBox="1"/>
          <p:nvPr/>
        </p:nvSpPr>
        <p:spPr>
          <a:xfrm>
            <a:off x="3682550" y="2975563"/>
            <a:ext cx="1609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Premise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693700" y="2456763"/>
            <a:ext cx="1641000" cy="24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" name="Google Shape;74;p15"/>
          <p:cNvCxnSpPr/>
          <p:nvPr/>
        </p:nvCxnSpPr>
        <p:spPr>
          <a:xfrm flipH="1">
            <a:off x="6998275" y="2706363"/>
            <a:ext cx="3300" cy="3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5"/>
          <p:cNvSpPr txBox="1"/>
          <p:nvPr/>
        </p:nvSpPr>
        <p:spPr>
          <a:xfrm>
            <a:off x="6195175" y="2969038"/>
            <a:ext cx="1609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87600" y="3987375"/>
            <a:ext cx="84447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Note that the conclusion can only be false if one of the two premises is false.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Inductive Reasoning</a:t>
            </a:r>
            <a:endParaRPr b="1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 with some evidence, data, observations, etc. and come up with a general rule to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explain </a:t>
            </a:r>
            <a:r>
              <a:rPr lang="en">
                <a:solidFill>
                  <a:schemeClr val="dk1"/>
                </a:solidFill>
              </a:rPr>
              <a:t>the evidence. The general rule is </a:t>
            </a:r>
            <a:r>
              <a:rPr b="1" lang="en" u="sng">
                <a:solidFill>
                  <a:schemeClr val="dk1"/>
                </a:solidFill>
              </a:rPr>
              <a:t>not necessarily </a:t>
            </a:r>
            <a:r>
              <a:rPr b="1" lang="en" u="sng">
                <a:solidFill>
                  <a:schemeClr val="dk1"/>
                </a:solidFill>
              </a:rPr>
              <a:t>guaranteed</a:t>
            </a:r>
            <a:r>
              <a:rPr b="1" lang="en" u="sng">
                <a:solidFill>
                  <a:schemeClr val="dk1"/>
                </a:solidFill>
              </a:rPr>
              <a:t> to be true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Ex. The sun has always risen. Therefore, the sun will rise tomorrow.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228400" y="2354925"/>
            <a:ext cx="2681100" cy="24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3946875" y="2354925"/>
            <a:ext cx="3789000" cy="249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16"/>
          <p:cNvCxnSpPr/>
          <p:nvPr/>
        </p:nvCxnSpPr>
        <p:spPr>
          <a:xfrm flipH="1">
            <a:off x="2704700" y="2680075"/>
            <a:ext cx="3300" cy="3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6"/>
          <p:cNvCxnSpPr/>
          <p:nvPr/>
        </p:nvCxnSpPr>
        <p:spPr>
          <a:xfrm flipH="1">
            <a:off x="5839725" y="2604525"/>
            <a:ext cx="3300" cy="36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6"/>
          <p:cNvSpPr txBox="1"/>
          <p:nvPr/>
        </p:nvSpPr>
        <p:spPr>
          <a:xfrm>
            <a:off x="1901600" y="2932950"/>
            <a:ext cx="1609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Evidence/ Observations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036625" y="2860075"/>
            <a:ext cx="1609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87600" y="3803425"/>
            <a:ext cx="84447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Notice that this assumes that the past predicts the future and so because the past does not </a:t>
            </a:r>
            <a:r>
              <a:rPr i="1" lang="en" sz="1800" u="sng">
                <a:solidFill>
                  <a:schemeClr val="dk1"/>
                </a:solidFill>
              </a:rPr>
              <a:t>necessarily</a:t>
            </a:r>
            <a:r>
              <a:rPr lang="en" sz="1800">
                <a:solidFill>
                  <a:schemeClr val="dk1"/>
                </a:solidFill>
              </a:rPr>
              <a:t> always predict the future the conclusion is not guaranteed to be true, but is only </a:t>
            </a:r>
            <a:r>
              <a:rPr lang="en" sz="1800">
                <a:solidFill>
                  <a:schemeClr val="dk1"/>
                </a:solidFill>
              </a:rPr>
              <a:t>probabilistically</a:t>
            </a:r>
            <a:r>
              <a:rPr lang="en" sz="1800">
                <a:solidFill>
                  <a:schemeClr val="dk1"/>
                </a:solidFill>
              </a:rPr>
              <a:t> true based on past experience.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17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IR or DR?</a:t>
            </a:r>
            <a:endParaRPr b="1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238550" y="752675"/>
            <a:ext cx="8766300" cy="42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All dolphins are mammals. All mammals have kidneys. Dolphins have kidneys.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Deductive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Every time I drop an apple it falls to the ground. All apples that are dropped will fall to the ground.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Inductive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Chimps and humans share 99% of </a:t>
            </a:r>
            <a:r>
              <a:rPr lang="en">
                <a:solidFill>
                  <a:schemeClr val="dk1"/>
                </a:solidFill>
              </a:rPr>
              <a:t>their</a:t>
            </a:r>
            <a:r>
              <a:rPr lang="en">
                <a:solidFill>
                  <a:schemeClr val="dk1"/>
                </a:solidFill>
              </a:rPr>
              <a:t> genetic material. Chimps and humans evolved from a common </a:t>
            </a:r>
            <a:r>
              <a:rPr lang="en">
                <a:solidFill>
                  <a:schemeClr val="dk1"/>
                </a:solidFill>
              </a:rPr>
              <a:t>ancestor.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Inductive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All antibiotics kill bacteria. Penicillin is an antibiotic. Therefore penicillin kills bacteria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Deductive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Given this </a:t>
            </a:r>
            <a:r>
              <a:rPr lang="en" sz="1800">
                <a:solidFill>
                  <a:schemeClr val="dk1"/>
                </a:solidFill>
              </a:rPr>
              <a:t>number sequence: 5, 8, 11, 14, 17, __. T</a:t>
            </a:r>
            <a:r>
              <a:rPr lang="en">
                <a:solidFill>
                  <a:schemeClr val="dk1"/>
                </a:solidFill>
              </a:rPr>
              <a:t>he n</a:t>
            </a:r>
            <a:r>
              <a:rPr lang="en" sz="1800">
                <a:solidFill>
                  <a:schemeClr val="dk1"/>
                </a:solidFill>
              </a:rPr>
              <a:t>ext number is 20.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Inductive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278850" y="27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Inductive Reasoning in Science</a:t>
            </a:r>
            <a:endParaRPr b="1"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44525" y="863550"/>
            <a:ext cx="8835300" cy="40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Unlike math or logic, science is not a deductive process, it is an inductive one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Science does not prove things, but rather tries to identify patterns from observations of the natural world and come up with general theories that are probably true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Scientific experiments help us gather data to see if these patterns continue to hold true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more data we gather that supports or fits the pattern/theory, the more the probability increases of the theory being true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But it is never 100% </a:t>
            </a:r>
            <a:r>
              <a:rPr lang="en">
                <a:solidFill>
                  <a:schemeClr val="dk1"/>
                </a:solidFill>
              </a:rPr>
              <a:t>guaranteed to be true in a deductive sense, for example: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ew data can be gathered that goes against the pattern and would reduce the </a:t>
            </a:r>
            <a:r>
              <a:rPr lang="en">
                <a:solidFill>
                  <a:schemeClr val="dk1"/>
                </a:solidFill>
              </a:rPr>
              <a:t>probability</a:t>
            </a:r>
            <a:r>
              <a:rPr lang="en">
                <a:solidFill>
                  <a:schemeClr val="dk1"/>
                </a:solidFill>
              </a:rPr>
              <a:t> that the theory is true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Someone can look at the existing evidence and come up with a pattern or theory that better explains the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